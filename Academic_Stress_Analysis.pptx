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Gender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C97-44B1-AB37-E2082DBEAB59}"/>
              </c:ext>
            </c:extLst>
          </c:dPt>
          <c:dPt>
            <c:idx val="1"/>
            <c:bubble3D val="0"/>
            <c:spPr>
              <a:solidFill>
                <a:srgbClr val="4A2C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97-44B1-AB37-E2082DBEAB59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97-44B1-AB37-E2082DBEAB5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C97-44B1-AB37-E2082DBEAB5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97-44B1-AB37-E2082DBEAB5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C97-44B1-AB37-E2082DBEAB5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44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C97-44B1-AB37-E2082DBEAB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Age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4A2C8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F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Below 18</c:v>
                </c:pt>
                <c:pt idx="1">
                  <c:v>18–20</c:v>
                </c:pt>
                <c:pt idx="2">
                  <c:v>21–23</c:v>
                </c:pt>
                <c:pt idx="3">
                  <c:v>Above 23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36</c:v>
                </c:pt>
                <c:pt idx="2">
                  <c:v>37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97-4D43-87AA-F588A06F1F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Year of Study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F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1st Year</c:v>
                </c:pt>
                <c:pt idx="1">
                  <c:v>2nd Year</c:v>
                </c:pt>
                <c:pt idx="2">
                  <c:v>3rd Year</c:v>
                </c:pt>
                <c:pt idx="3">
                  <c:v>4th Year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53</c:v>
                </c:pt>
                <c:pt idx="2">
                  <c:v>22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31-4500-A5D6-AD058D26AD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Stress Due to Workload (Q6)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E879F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1FA-4886-8631-7539B780B4D4}"/>
              </c:ext>
            </c:extLst>
          </c:dPt>
          <c:dPt>
            <c:idx val="1"/>
            <c:invertIfNegative val="0"/>
            <c:bubble3D val="0"/>
            <c:spPr>
              <a:solidFill>
                <a:srgbClr val="C084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FA-4886-8631-7539B780B4D4}"/>
              </c:ext>
            </c:extLst>
          </c:dPt>
          <c:dPt>
            <c:idx val="2"/>
            <c:invertIfNegative val="0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FA-4886-8631-7539B780B4D4}"/>
              </c:ext>
            </c:extLst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1FA-4886-8631-7539B780B4D4}"/>
              </c:ext>
            </c:extLst>
          </c:dPt>
          <c:dPt>
            <c:idx val="4"/>
            <c:invertIfNegative val="0"/>
            <c:bubble3D val="0"/>
            <c:spPr>
              <a:solidFill>
                <a:srgbClr val="4C1D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1FA-4886-8631-7539B780B4D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F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Never</c:v>
                </c:pt>
                <c:pt idx="1">
                  <c:v>Rarely</c:v>
                </c:pt>
                <c:pt idx="2">
                  <c:v>Sometimes</c:v>
                </c:pt>
                <c:pt idx="3">
                  <c:v>Often</c:v>
                </c:pt>
                <c:pt idx="4">
                  <c:v>Always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11</c:v>
                </c:pt>
                <c:pt idx="2">
                  <c:v>42</c:v>
                </c:pt>
                <c:pt idx="3">
                  <c:v>20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FA-4886-8631-7539B780B4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Top Causes of Academic Stress (Q7)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F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Exams</c:v>
                </c:pt>
                <c:pt idx="1">
                  <c:v>Heavy Coursework</c:v>
                </c:pt>
                <c:pt idx="2">
                  <c:v>Competition</c:v>
                </c:pt>
                <c:pt idx="3">
                  <c:v>Expectations</c:v>
                </c:pt>
                <c:pt idx="4">
                  <c:v>Assignments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18</c:v>
                </c:pt>
                <c:pt idx="2">
                  <c:v>20</c:v>
                </c:pt>
                <c:pt idx="3">
                  <c:v>22</c:v>
                </c:pt>
                <c:pt idx="4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B9-463B-AE43-6E23B05E4B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Concentration Duration (Q22)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Duration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8D-4FF6-947E-114C27250B40}"/>
              </c:ext>
            </c:extLst>
          </c:dPt>
          <c:dPt>
            <c:idx val="1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8D-4FF6-947E-114C27250B40}"/>
              </c:ext>
            </c:extLst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8D-4FF6-947E-114C27250B40}"/>
              </c:ext>
            </c:extLst>
          </c:dPt>
          <c:dPt>
            <c:idx val="3"/>
            <c:bubble3D val="0"/>
            <c:spPr>
              <a:solidFill>
                <a:srgbClr val="1A1F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8D-4FF6-947E-114C27250B4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8D-4FF6-947E-114C27250B4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8D-4FF6-947E-114C27250B4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8D-4FF6-947E-114C27250B4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8D-4FF6-947E-114C27250B4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&lt; 30 min</c:v>
                </c:pt>
                <c:pt idx="1">
                  <c:v>30–60 min</c:v>
                </c:pt>
                <c:pt idx="2">
                  <c:v>1–2 hrs</c:v>
                </c:pt>
                <c:pt idx="3">
                  <c:v>&gt; 2 hrs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35</c:v>
                </c:pt>
                <c:pt idx="2">
                  <c:v>26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08D-4FF6-947E-114C27250B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Study Frequency (Q19)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4A2C8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F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Daily</c:v>
                </c:pt>
                <c:pt idx="1">
                  <c:v>Several/week</c:v>
                </c:pt>
                <c:pt idx="2">
                  <c:v>Occasionally</c:v>
                </c:pt>
                <c:pt idx="3">
                  <c:v>Only b/f exams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35</c:v>
                </c:pt>
                <c:pt idx="2">
                  <c:v>25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2A-4CB5-A74A-84753C2A2D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Study Methods (Q25)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F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Textbooks</c:v>
                </c:pt>
                <c:pt idx="1">
                  <c:v>Notes</c:v>
                </c:pt>
                <c:pt idx="2">
                  <c:v>Group Study</c:v>
                </c:pt>
                <c:pt idx="3">
                  <c:v>Online Lectures</c:v>
                </c:pt>
                <c:pt idx="4">
                  <c:v>AI Tools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</c:v>
                </c:pt>
                <c:pt idx="1">
                  <c:v>35</c:v>
                </c:pt>
                <c:pt idx="2">
                  <c:v>30</c:v>
                </c:pt>
                <c:pt idx="3">
                  <c:v>28</c:v>
                </c:pt>
                <c:pt idx="4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64-4F81-83EF-BE58D15362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Stress → Performance Impact (Q26)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Effect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Very Neg</c:v>
                </c:pt>
                <c:pt idx="1">
                  <c:v>Slightly Neg</c:v>
                </c:pt>
                <c:pt idx="2">
                  <c:v>No Effect</c:v>
                </c:pt>
                <c:pt idx="3">
                  <c:v>Positive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28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2B-44A7-9BAF-64C41FB229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Stressed Students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Very Neg</c:v>
                </c:pt>
                <c:pt idx="1">
                  <c:v>Slightly Neg</c:v>
                </c:pt>
                <c:pt idx="2">
                  <c:v>No Effect</c:v>
                </c:pt>
                <c:pt idx="3">
                  <c:v>Positive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2B-44A7-9BAF-64C41FB229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Sometimes Stressed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Very Neg</c:v>
                </c:pt>
                <c:pt idx="1">
                  <c:v>Slightly Neg</c:v>
                </c:pt>
                <c:pt idx="2">
                  <c:v>No Effect</c:v>
                </c:pt>
                <c:pt idx="3">
                  <c:v>Positive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38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2B-44A7-9BAF-64C41FB2290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Motivated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Very Neg</c:v>
                </c:pt>
                <c:pt idx="1">
                  <c:v>Slightly Neg</c:v>
                </c:pt>
                <c:pt idx="2">
                  <c:v>No Effect</c:v>
                </c:pt>
                <c:pt idx="3">
                  <c:v>Positive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A2B-44A7-9BAF-64C41FB229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46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111840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Stress Impact on Performance (Q26)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FE9-4430-8C36-64BE4C461527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FE9-4430-8C36-64BE4C461527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FE9-4430-8C36-64BE4C461527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FE9-4430-8C36-64BE4C46152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F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Very Negative</c:v>
                </c:pt>
                <c:pt idx="1">
                  <c:v>Slightly Negative</c:v>
                </c:pt>
                <c:pt idx="2">
                  <c:v>No Effect</c:v>
                </c:pt>
                <c:pt idx="3">
                  <c:v>Positive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38</c:v>
                </c:pt>
                <c:pt idx="2">
                  <c:v>28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FE9-4430-8C36-64BE4C4615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Motivation Despite Stress (Q30)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5C5-43A0-AF66-9941A3B3696A}"/>
              </c:ext>
            </c:extLst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5C5-43A0-AF66-9941A3B3696A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5C5-43A0-AF66-9941A3B3696A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5C5-43A0-AF66-9941A3B3696A}"/>
              </c:ext>
            </c:extLst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5C5-43A0-AF66-9941A3B3696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F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Not Motivated</c:v>
                </c:pt>
                <c:pt idx="1">
                  <c:v>Less Motivated</c:v>
                </c:pt>
                <c:pt idx="2">
                  <c:v>Neutral</c:v>
                </c:pt>
                <c:pt idx="3">
                  <c:v>Motivated</c:v>
                </c:pt>
                <c:pt idx="4">
                  <c:v>Very Motivated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7</c:v>
                </c:pt>
                <c:pt idx="2">
                  <c:v>40</c:v>
                </c:pt>
                <c:pt idx="3">
                  <c:v>22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5C5-43A0-AF66-9941A3B369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072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41A52"/>
          </a:solidFill>
          <a:ln w="12700">
            <a:solidFill>
              <a:srgbClr val="141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457200"/>
            <a:ext cx="1828800" cy="18288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200400"/>
            <a:ext cx="1371600" cy="137160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1828800"/>
            <a:ext cx="731520" cy="731520"/>
          </a:xfrm>
          <a:prstGeom prst="ellipse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640080" cy="640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417320"/>
            <a:ext cx="2743200" cy="347472"/>
          </a:xfrm>
          <a:prstGeom prst="roundRect">
            <a:avLst>
              <a:gd name="adj" fmla="val 2631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PREPARATION &amp; EDA PROJECT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20040" y="19202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Stress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320040" y="2633472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Study Habits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320040" y="336499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College Students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20040" y="4114800"/>
            <a:ext cx="6217920" cy="777240"/>
          </a:xfrm>
          <a:prstGeom prst="rect">
            <a:avLst/>
          </a:prstGeom>
          <a:solidFill>
            <a:srgbClr val="0F1442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1"/>
          <p:cNvSpPr/>
          <p:nvPr/>
        </p:nvSpPr>
        <p:spPr>
          <a:xfrm>
            <a:off x="411480" y="41879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A0AEC0"/>
                </a:solidFill>
              </a:rPr>
              <a:t>Submitted by: </a:t>
            </a:r>
            <a:r>
              <a:rPr lang="en-US" sz="1100" b="1" dirty="0">
                <a:solidFill>
                  <a:srgbClr val="FFFFFF"/>
                </a:solidFill>
              </a:rPr>
              <a:t>Jaskaran Kaur  • Registration No. - 12411980  • </a:t>
            </a:r>
            <a:r>
              <a:rPr lang="en-US" sz="1100" dirty="0">
                <a:solidFill>
                  <a:srgbClr val="A0AEC0"/>
                </a:solidFill>
              </a:rPr>
              <a:t>Submitted To: </a:t>
            </a:r>
            <a:r>
              <a:rPr lang="en-US" sz="1100" b="1" dirty="0">
                <a:solidFill>
                  <a:srgbClr val="FFFFFF"/>
                </a:solidFill>
              </a:rPr>
              <a:t>Dr. Krishan Dutt 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44805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</a:rPr>
              <a:t>Dataset: Google Form Survey  •  </a:t>
            </a:r>
            <a:r>
              <a:rPr lang="en-US" sz="1000" dirty="0">
                <a:solidFill>
                  <a:srgbClr val="F59E0B"/>
                </a:solidFill>
              </a:rPr>
              <a:t>101 Respondents  •  36 Variables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" y="914400"/>
            <a:ext cx="39319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914400"/>
            <a:ext cx="3931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8755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9692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is EDA?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16276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15727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 involves analyzing datasets to summarize their main characteristics.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3134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22585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statistical graphics and visual methods to uncover patterns, trends &amp; anomalies.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9992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800" y="29443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understand the distribution of data before modeling.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6850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" y="36301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the question: What does the data tell us?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00600" y="914400"/>
            <a:ext cx="3931920" cy="3566160"/>
          </a:xfrm>
          <a:prstGeom prst="rect">
            <a:avLst/>
          </a:prstGeom>
          <a:solidFill>
            <a:srgbClr val="FFFFFF"/>
          </a:solidFill>
          <a:ln w="25400">
            <a:solidFill>
              <a:srgbClr val="4A2C8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800600" y="914400"/>
            <a:ext cx="3931920" cy="502920"/>
          </a:xfrm>
          <a:prstGeom prst="rect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98755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49240" y="9692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is Data Preparation?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4937760" y="1627632"/>
            <a:ext cx="164592" cy="164592"/>
          </a:xfrm>
          <a:prstGeom prst="ellipse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166360" y="15727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of cleaning, transforming &amp; organizing raw data into a usable format.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937760" y="2313432"/>
            <a:ext cx="164592" cy="164592"/>
          </a:xfrm>
          <a:prstGeom prst="ellipse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66360" y="22585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values, outliers, inconsistencies &amp; formatting issues.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937760" y="2999232"/>
            <a:ext cx="164592" cy="164592"/>
          </a:xfrm>
          <a:prstGeom prst="ellipse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166360" y="29443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categorical variables and scales numerical features.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937760" y="3685032"/>
            <a:ext cx="164592" cy="164592"/>
          </a:xfrm>
          <a:prstGeom prst="ellipse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166360" y="36301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the backbone of any reliable data analysis or ML pipeline.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20040" y="4617720"/>
            <a:ext cx="841248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57200" y="46360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</a:rPr>
              <a:t>💡  Why it matters: Academic stress is a growing concern — data-driven insights help institutions design better support systems for students.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" y="822960"/>
            <a:ext cx="8503920" cy="1188720"/>
          </a:xfrm>
          <a:prstGeom prst="rect">
            <a:avLst/>
          </a:prstGeom>
          <a:solidFill>
            <a:srgbClr val="1E2461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0040" y="822960"/>
            <a:ext cx="109728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868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97316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1170432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 face increasing academic stress affecting their mental health, concentration, and performance. However, the specific drivers and patterns of this stress — and how they relate to study habits — remain poorly quantified.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</a:rPr>
              <a:t>OBJECTIVES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2606040"/>
            <a:ext cx="4114800" cy="1005840"/>
          </a:xfrm>
          <a:prstGeom prst="rect">
            <a:avLst/>
          </a:prstGeom>
          <a:solidFill>
            <a:srgbClr val="1E24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2834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803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Analyze Stress Factors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005840" y="3017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academic stressors using survey responses from 101 students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09160" y="2606040"/>
            <a:ext cx="4114800" cy="1005840"/>
          </a:xfrm>
          <a:prstGeom prst="rect">
            <a:avLst/>
          </a:prstGeom>
          <a:solidFill>
            <a:srgbClr val="1E24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00600" y="2834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8803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9496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Explore Study Habits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394960" y="3017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different study routines correlate with stress and performance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3794760"/>
            <a:ext cx="4114800" cy="1005840"/>
          </a:xfrm>
          <a:prstGeom prst="rect">
            <a:avLst/>
          </a:prstGeom>
          <a:solidFill>
            <a:srgbClr val="1E24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11480" y="40233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0690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Perform EDA in R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05840" y="4206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data cleaning, visualization, correlation &amp; regression analysis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709160" y="3794760"/>
            <a:ext cx="4114800" cy="1005840"/>
          </a:xfrm>
          <a:prstGeom prst="rect">
            <a:avLst/>
          </a:prstGeom>
          <a:solidFill>
            <a:srgbClr val="1E246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800600" y="402336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406908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9496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Generate Insights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394960" y="4206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actionable insights for students and institutions to manage academic stress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320040" y="804672"/>
            <a:ext cx="196596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20040" y="8229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101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320040" y="1344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Respondents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68880" y="804672"/>
            <a:ext cx="1965960" cy="960120"/>
          </a:xfrm>
          <a:prstGeom prst="rect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68880" y="8229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36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2468880" y="1344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Variables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17720" y="804672"/>
            <a:ext cx="1965960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17720" y="8229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30+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4617720" y="1344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Questions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66560" y="804672"/>
            <a:ext cx="1965960" cy="9601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66560" y="8229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2026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766560" y="1344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Survey Year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00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A1F5E"/>
                </a:solidFill>
              </a:rPr>
              <a:t>VARIABLE CATEGORIES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2331720"/>
            <a:ext cx="73152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Demographics: 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92024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Age, Gender, Course, Year of Study, CGPA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2971800"/>
            <a:ext cx="73152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Stress Indicators: 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92024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Workload stress, exam stress, fear of failing, worry frequency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3611880"/>
            <a:ext cx="73152" cy="502920"/>
          </a:xfrm>
          <a:prstGeom prst="rect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3657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C8E"/>
                </a:solidFill>
              </a:rPr>
              <a:t>Study Habits: 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9202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Study routine, method, concentration span, revision frequency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20040" y="4251960"/>
            <a:ext cx="73152" cy="5029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292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5E"/>
                </a:solidFill>
              </a:rPr>
              <a:t>Coping &amp; Motivation: 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92024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Help-seeking, coping activities, motivation level, confidence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983480" y="196596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983480" y="1965960"/>
            <a:ext cx="3840480" cy="36576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74920" y="20116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SURVEY STRUCTURE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120640" y="24871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Source: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492240" y="2487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Google Forms — Primary Survey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120640" y="28712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Collection Period: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92240" y="287121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March 2026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120640" y="32552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Scale Used: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492240" y="32552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Likert / Multiple Choice / Ranking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120640" y="36393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Response Type: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492240" y="3639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Anonymous Self-Reported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12064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Tools Used: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49224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R (Analysis &amp; Visualization)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120640" y="44074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Topic: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492240" y="4407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Academic Stress &amp; Study Habits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PREPROCESSING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4251960" cy="1188720"/>
          </a:xfrm>
          <a:prstGeom prst="rect">
            <a:avLst/>
          </a:prstGeom>
          <a:solidFill>
            <a:srgbClr val="1A20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82296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234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8961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Data Import &amp; Inspection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1216152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.xlsx using readxl in R. Inspected dimensions (101 rows × 36 cols), data types, and head/tail rows.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00600" y="822960"/>
            <a:ext cx="4251960" cy="1188720"/>
          </a:xfrm>
          <a:prstGeom prst="rect">
            <a:avLst/>
          </a:prstGeom>
          <a:solidFill>
            <a:srgbClr val="1A2060"/>
          </a:solidFill>
          <a:ln w="12700">
            <a:solidFill>
              <a:srgbClr val="4A2C8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00600" y="822960"/>
            <a:ext cx="502920" cy="1188720"/>
          </a:xfrm>
          <a:prstGeom prst="rect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2344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394960" y="8961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Handling Missing Values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94960" y="1216152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NA values. Removed Email &amp; Name columns for privacy. Imputed or dropped rows with missing key responses.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194560"/>
            <a:ext cx="4251960" cy="1188720"/>
          </a:xfrm>
          <a:prstGeom prst="rect">
            <a:avLst/>
          </a:prstGeom>
          <a:solidFill>
            <a:srgbClr val="1A206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2194560"/>
            <a:ext cx="502920" cy="1188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2606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68680" y="22677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Column Renaming &amp; Encoding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8680" y="2587752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long question text to short variable names (Q1–Q30). Encoded ordinal responses to numeric Likert scores (1–5).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00600" y="2194560"/>
            <a:ext cx="4251960" cy="1188720"/>
          </a:xfrm>
          <a:prstGeom prst="rect">
            <a:avLst/>
          </a:prstGeom>
          <a:solidFill>
            <a:srgbClr val="1A206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2194560"/>
            <a:ext cx="5029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26060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94960" y="22677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Outlier Detection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94960" y="2587752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numeric stress/performance scores for outliers using boxplots and IQR method in R.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3566160"/>
            <a:ext cx="4251960" cy="1188720"/>
          </a:xfrm>
          <a:prstGeom prst="rect">
            <a:avLst/>
          </a:prstGeom>
          <a:solidFill>
            <a:srgbClr val="1A206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" y="3566160"/>
            <a:ext cx="50292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74320" y="3977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68680" y="36393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68680" y="3959352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composite 'Stress_Score' from Q6, Q9, Q11, Q14, Q15. Created 'Study_Regularity' from Q19, Q22, Q23.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00600" y="3566160"/>
            <a:ext cx="4251960" cy="1188720"/>
          </a:xfrm>
          <a:prstGeom prst="rect">
            <a:avLst/>
          </a:prstGeom>
          <a:solidFill>
            <a:srgbClr val="1A206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00600" y="3566160"/>
            <a:ext cx="502920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00600" y="3977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394960" y="36393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Final Clean Dataset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394960" y="3959352"/>
            <a:ext cx="3520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101 complete rows × 30 analysis-ready variables. Saved as cleaned_data.csv for EDA phase.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DEMOGRAPHIC OVERVIEW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77240"/>
          <a:ext cx="3200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566160" y="777240"/>
          <a:ext cx="2743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6400800" y="777240"/>
          <a:ext cx="24688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Shape 2"/>
          <p:cNvSpPr/>
          <p:nvPr/>
        </p:nvSpPr>
        <p:spPr>
          <a:xfrm>
            <a:off x="274320" y="4114800"/>
            <a:ext cx="8595360" cy="804672"/>
          </a:xfrm>
          <a:prstGeom prst="rect">
            <a:avLst/>
          </a:prstGeom>
          <a:solidFill>
            <a:srgbClr val="1A1F5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411480" y="41605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📊  KEY INSIGHT: </a:t>
            </a:r>
            <a:r>
              <a:rPr lang="en-US" sz="1100" dirty="0">
                <a:solidFill>
                  <a:srgbClr val="FFFFFF"/>
                </a:solidFill>
              </a:rPr>
              <a:t>54% of respondents are female; majority are 2nd-year students (52%) aged 21–23. Engineering students form the largest group (34%). This skew reflects the survey population's academic profile.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ACADEMIC STRESS ANALYSIS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7724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777240"/>
          <a:ext cx="4297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"/>
          <p:cNvSpPr/>
          <p:nvPr/>
        </p:nvSpPr>
        <p:spPr>
          <a:xfrm>
            <a:off x="274320" y="3657600"/>
            <a:ext cx="2057400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274320" y="3749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38%</a:t>
            </a:r>
            <a:endParaRPr lang="en-US" sz="2800" dirty="0"/>
          </a:p>
        </p:txBody>
      </p:sp>
      <p:sp>
        <p:nvSpPr>
          <p:cNvPr id="9" name="Text 4"/>
          <p:cNvSpPr/>
          <p:nvPr/>
        </p:nvSpPr>
        <p:spPr>
          <a:xfrm>
            <a:off x="274320" y="4251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feel stressed Often/Always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2468880" y="3657600"/>
            <a:ext cx="2057400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6"/>
          <p:cNvSpPr/>
          <p:nvPr/>
        </p:nvSpPr>
        <p:spPr>
          <a:xfrm>
            <a:off x="2468880" y="3749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45%</a:t>
            </a:r>
            <a:endParaRPr lang="en-US" sz="2800" dirty="0"/>
          </a:p>
        </p:txBody>
      </p:sp>
      <p:sp>
        <p:nvSpPr>
          <p:cNvPr id="12" name="Text 7"/>
          <p:cNvSpPr/>
          <p:nvPr/>
        </p:nvSpPr>
        <p:spPr>
          <a:xfrm>
            <a:off x="2468880" y="4251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worry about performance Sometimes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663440" y="3657600"/>
            <a:ext cx="2057400" cy="1234440"/>
          </a:xfrm>
          <a:prstGeom prst="rect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663440" y="3749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57%</a:t>
            </a:r>
            <a:endParaRPr lang="en-US" sz="2800" dirty="0"/>
          </a:p>
        </p:txBody>
      </p:sp>
      <p:sp>
        <p:nvSpPr>
          <p:cNvPr id="15" name="Text 10"/>
          <p:cNvSpPr/>
          <p:nvPr/>
        </p:nvSpPr>
        <p:spPr>
          <a:xfrm>
            <a:off x="4663440" y="4251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report exam stress as Moderate+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858000" y="3657600"/>
            <a:ext cx="2057400" cy="1234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858000" y="374904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39%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6858000" y="42519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fear failing Often/Very Often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STUDY HABITS &amp; PATTERNS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77240"/>
          <a:ext cx="3200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566160" y="777240"/>
          <a:ext cx="2743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6400800" y="777240"/>
          <a:ext cx="2514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Shape 2"/>
          <p:cNvSpPr/>
          <p:nvPr/>
        </p:nvSpPr>
        <p:spPr>
          <a:xfrm>
            <a:off x="274320" y="3840480"/>
            <a:ext cx="8595360" cy="1078992"/>
          </a:xfrm>
          <a:prstGeom prst="rect">
            <a:avLst/>
          </a:prstGeom>
          <a:solidFill>
            <a:srgbClr val="1A1F5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411480" y="3913632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📚  KEY INSIGHTS: </a:t>
            </a:r>
            <a:r>
              <a:rPr lang="en-US" sz="1100" dirty="0">
                <a:solidFill>
                  <a:srgbClr val="FFFFFF"/>
                </a:solidFill>
              </a:rPr>
              <a:t>52% of students use AI tools (ChatGPT) in their study methods. Only 19% study daily. 59% cannot concentrate for more than 60 minutes. Social media is the #1 distraction. These patterns suggest fragmented study habits prevalent across respondents.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4114800" cy="4160520"/>
          </a:xfrm>
          <a:prstGeom prst="rect">
            <a:avLst/>
          </a:prstGeom>
          <a:solidFill>
            <a:srgbClr val="1118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841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9E0B"/>
                </a:solidFill>
              </a:rPr>
              <a:t>CORRELATION HEATMAP (R Output)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1155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</a:rPr>
              <a:t>(Generated in R using corrplot package)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" y="1417320"/>
            <a:ext cx="4023360" cy="384048"/>
          </a:xfrm>
          <a:prstGeom prst="rect">
            <a:avLst/>
          </a:prstGeom>
          <a:solidFill>
            <a:srgbClr val="151D50"/>
          </a:solidFill>
          <a:ln w="12700">
            <a:solidFill>
              <a:srgbClr val="151D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472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Workload Stress ↔ Exam Stress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834640" y="14721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+0.68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20440" y="1490472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38728" y="150876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Strong +ve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0040" y="1837944"/>
            <a:ext cx="4023360" cy="384048"/>
          </a:xfrm>
          <a:prstGeom prst="rect">
            <a:avLst/>
          </a:prstGeom>
          <a:solidFill>
            <a:srgbClr val="1A2461"/>
          </a:solidFill>
          <a:ln w="12700">
            <a:solidFill>
              <a:srgbClr val="1A24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Workload Stress ↔ Fear of Failing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834640" y="1892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+0.54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520440" y="1911096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38728" y="192938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Moderate +ve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20040" y="2258568"/>
            <a:ext cx="4023360" cy="384048"/>
          </a:xfrm>
          <a:prstGeom prst="rect">
            <a:avLst/>
          </a:prstGeom>
          <a:solidFill>
            <a:srgbClr val="151D50"/>
          </a:solidFill>
          <a:ln w="12700">
            <a:solidFill>
              <a:srgbClr val="151D5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2313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Concentration Duration ↔ Stress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834640" y="23134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−0.47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520440" y="233172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7F1D1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38728" y="235000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F4444"/>
                </a:solidFill>
              </a:rPr>
              <a:t>Moderate −ve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20040" y="2679192"/>
            <a:ext cx="4023360" cy="384048"/>
          </a:xfrm>
          <a:prstGeom prst="rect">
            <a:avLst/>
          </a:prstGeom>
          <a:solidFill>
            <a:srgbClr val="1A2461"/>
          </a:solidFill>
          <a:ln w="12700">
            <a:solidFill>
              <a:srgbClr val="1A24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5760" y="2734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Study Regularity ↔ Confidence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834640" y="273405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+0.51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520440" y="2752344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38728" y="277063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Moderate +ve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20040" y="3099816"/>
            <a:ext cx="4023360" cy="384048"/>
          </a:xfrm>
          <a:prstGeom prst="rect">
            <a:avLst/>
          </a:prstGeom>
          <a:solidFill>
            <a:srgbClr val="151D50"/>
          </a:solidFill>
          <a:ln w="12700">
            <a:solidFill>
              <a:srgbClr val="151D5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Stress Score ↔ Performance Effect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283464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+0.61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520440" y="3172968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38728" y="319125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Strong +ve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320040" y="3520440"/>
            <a:ext cx="4023360" cy="384048"/>
          </a:xfrm>
          <a:prstGeom prst="rect">
            <a:avLst/>
          </a:prstGeom>
          <a:solidFill>
            <a:srgbClr val="1A2461"/>
          </a:solidFill>
          <a:ln w="12700">
            <a:solidFill>
              <a:srgbClr val="1A246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3575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CGPA ↔ Confidence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2834640" y="35753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+0.44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520440" y="3593592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538728" y="36118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Moderate +ve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320040" y="3941064"/>
            <a:ext cx="4023360" cy="384048"/>
          </a:xfrm>
          <a:prstGeom prst="rect">
            <a:avLst/>
          </a:prstGeom>
          <a:solidFill>
            <a:srgbClr val="151D50"/>
          </a:solidFill>
          <a:ln w="12700">
            <a:solidFill>
              <a:srgbClr val="151D5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3995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AI Tool Usage ↔ Study Regularity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2834640" y="39959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+0.29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3520440" y="4014216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538728" y="403250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Weak +ve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320040" y="4361688"/>
            <a:ext cx="4023360" cy="384048"/>
          </a:xfrm>
          <a:prstGeom prst="rect">
            <a:avLst/>
          </a:prstGeom>
          <a:solidFill>
            <a:srgbClr val="1A2461"/>
          </a:solidFill>
          <a:ln w="12700">
            <a:solidFill>
              <a:srgbClr val="1A246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65760" y="4416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D5DB"/>
                </a:solidFill>
              </a:rPr>
              <a:t>Exam Stress ↔ Anxiety (Pre-exam)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2834640" y="4416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C55E"/>
                </a:solidFill>
              </a:rPr>
              <a:t>+0.72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3520440" y="4434840"/>
            <a:ext cx="749808" cy="237744"/>
          </a:xfrm>
          <a:prstGeom prst="roundRect">
            <a:avLst>
              <a:gd name="adj" fmla="val 19231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538728" y="44531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2C55E"/>
                </a:solidFill>
              </a:rPr>
              <a:t>Strong +ve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4617720" y="777240"/>
            <a:ext cx="4206240" cy="4160520"/>
          </a:xfrm>
          <a:prstGeom prst="rect">
            <a:avLst/>
          </a:prstGeom>
          <a:solidFill>
            <a:srgbClr val="111840"/>
          </a:solidFill>
          <a:ln w="12700">
            <a:solidFill>
              <a:srgbClr val="4A2C8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709160" y="841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9E0B"/>
                </a:solidFill>
              </a:rPr>
              <a:t>SCATTER PLOT INSIGHTS (R Output)</a:t>
            </a:r>
            <a:endParaRPr lang="en-US" sz="1000" dirty="0"/>
          </a:p>
        </p:txBody>
      </p:sp>
      <p:graphicFrame>
        <p:nvGraphicFramePr>
          <p:cNvPr id="50" name="Chart 0"/>
          <p:cNvGraphicFramePr/>
          <p:nvPr/>
        </p:nvGraphicFramePr>
        <p:xfrm>
          <a:off x="4663440" y="1188720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1" name="Shape 47"/>
          <p:cNvSpPr/>
          <p:nvPr/>
        </p:nvSpPr>
        <p:spPr>
          <a:xfrm>
            <a:off x="4663440" y="3520440"/>
            <a:ext cx="4114800" cy="1234440"/>
          </a:xfrm>
          <a:prstGeom prst="rect">
            <a:avLst/>
          </a:prstGeom>
          <a:solidFill>
            <a:srgbClr val="0A0F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754880" y="35844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</a:rPr>
              <a:t>R CODE USED: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4754880" y="3822192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cor_matrix &lt;- cor(numeric_df, use='complete.obs')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corrplot(cor_matrix, method='color', type='upper',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tl.col='black', addCoef.col='black')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ANALYSIS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8595360" cy="658368"/>
          </a:xfrm>
          <a:prstGeom prst="rect">
            <a:avLst/>
          </a:prstGeom>
          <a:solidFill>
            <a:srgbClr val="1A1F5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86868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Linear Regression  |  Target: Stress_Score  |  Predictors: Study_Regularity, Confidence, Fear_of_Failing, Concentration_Duration, CGPA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8595360" cy="230428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Predictor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Coefficient (β)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Std. Error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t-value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Significance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Fear of Failing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+0.61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6.78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&lt; 0.001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***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Study Regularity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−0.38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0.11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−3.45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0.001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</a:rPr>
                        <a:t>**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Confidence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−0.29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0.10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−2.90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0.004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</a:rPr>
                        <a:t>**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Concentration Span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−0.22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0.12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−1.83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CGPA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−0.15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−1.67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·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069080"/>
            <a:ext cx="2743200" cy="868680"/>
          </a:xfrm>
          <a:prstGeom prst="rect">
            <a:avLst/>
          </a:prstGeom>
          <a:solidFill>
            <a:srgbClr val="1A1F5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R² = 0.64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274320" y="4480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</a:rPr>
              <a:t>64% variance explained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3200400" y="4069080"/>
            <a:ext cx="2743200" cy="868680"/>
          </a:xfrm>
          <a:prstGeom prst="rect">
            <a:avLst/>
          </a:prstGeom>
          <a:solidFill>
            <a:srgbClr val="1A1F5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Adj. R² = 0.62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200400" y="4480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</a:rPr>
              <a:t>Adjusted for 5 predictors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4069080"/>
            <a:ext cx="2743200" cy="868680"/>
          </a:xfrm>
          <a:prstGeom prst="rect">
            <a:avLst/>
          </a:prstGeom>
          <a:solidFill>
            <a:srgbClr val="1A1F5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2648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</a:rPr>
              <a:t>F-statistic = 34.2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126480" y="4480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EC0"/>
                </a:solidFill>
              </a:rPr>
              <a:t>p &lt; 0.001 — Significant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822960"/>
            <a:ext cx="2057400" cy="1920240"/>
          </a:xfrm>
          <a:prstGeom prst="rect">
            <a:avLst/>
          </a:prstGeom>
          <a:solidFill>
            <a:srgbClr val="131B50"/>
          </a:solidFill>
          <a:ln w="19050">
            <a:solidFill>
              <a:srgbClr val="0D9488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14984" y="98755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024128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6032" y="1627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R Language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76072" y="193852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76072" y="19385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Primary Analysis Tool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29184" y="2231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Core statistical computing environment for all data analysis tasks.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468880" y="822960"/>
            <a:ext cx="2057400" cy="1920240"/>
          </a:xfrm>
          <a:prstGeom prst="rect">
            <a:avLst/>
          </a:prstGeom>
          <a:solidFill>
            <a:srgbClr val="131B50"/>
          </a:solidFill>
          <a:ln w="19050">
            <a:solidFill>
              <a:srgbClr val="4A2C8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27832" y="987552"/>
            <a:ext cx="548640" cy="548640"/>
          </a:xfrm>
          <a:prstGeom prst="ellipse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02412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468880" y="1627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2C8E"/>
                </a:solidFill>
              </a:rPr>
              <a:t>readxl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788920" y="193852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A2C8E">
              <a:alpha val="25000"/>
            </a:srgbClr>
          </a:solidFill>
          <a:ln w="12700">
            <a:solidFill>
              <a:srgbClr val="4A2C8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788920" y="19385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Data Import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2542032" y="2231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R package to import .xlsx survey data directly into R dataframes.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4681728" y="822960"/>
            <a:ext cx="2057400" cy="1920240"/>
          </a:xfrm>
          <a:prstGeom prst="rect">
            <a:avLst/>
          </a:prstGeom>
          <a:solidFill>
            <a:srgbClr val="131B50"/>
          </a:solidFill>
          <a:ln w="19050">
            <a:solidFill>
              <a:srgbClr val="F97316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40680" y="987552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02412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681728" y="1627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</a:rPr>
              <a:t>dplyr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001768" y="193852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F97316">
              <a:alpha val="2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001768" y="19385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Data Wrangling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4754880" y="2231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Grammar of data manipulation — filter, select, mutate, summarize.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6894576" y="822960"/>
            <a:ext cx="2057400" cy="1920240"/>
          </a:xfrm>
          <a:prstGeom prst="rect">
            <a:avLst/>
          </a:prstGeom>
          <a:solidFill>
            <a:srgbClr val="131B50"/>
          </a:solidFill>
          <a:ln w="1905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653528" y="987552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1024128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894576" y="1627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</a:rPr>
              <a:t>ggplot2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214616" y="193852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214616" y="19385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Visualization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6967728" y="2231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Elegant data visualization based on Grammar of Graphics.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256032" y="2880360"/>
            <a:ext cx="2057400" cy="1920240"/>
          </a:xfrm>
          <a:prstGeom prst="rect">
            <a:avLst/>
          </a:prstGeom>
          <a:solidFill>
            <a:srgbClr val="131B50"/>
          </a:solidFill>
          <a:ln w="1905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1014984" y="3044952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" y="3081528"/>
            <a:ext cx="457200" cy="4572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56032" y="36850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</a:rPr>
              <a:t>corrplot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576072" y="399592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76072" y="39959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Correlation Heatmap</a:t>
            </a:r>
            <a:endParaRPr lang="en-US" sz="800" dirty="0"/>
          </a:p>
        </p:txBody>
      </p:sp>
      <p:sp>
        <p:nvSpPr>
          <p:cNvPr id="39" name="Text 31"/>
          <p:cNvSpPr/>
          <p:nvPr/>
        </p:nvSpPr>
        <p:spPr>
          <a:xfrm>
            <a:off x="329184" y="42885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Visualization of correlation matrices with color-coded heatmaps.</a:t>
            </a:r>
            <a:endParaRPr lang="en-US" sz="800" dirty="0"/>
          </a:p>
        </p:txBody>
      </p:sp>
      <p:sp>
        <p:nvSpPr>
          <p:cNvPr id="40" name="Shape 32"/>
          <p:cNvSpPr/>
          <p:nvPr/>
        </p:nvSpPr>
        <p:spPr>
          <a:xfrm>
            <a:off x="2468880" y="2880360"/>
            <a:ext cx="2057400" cy="1920240"/>
          </a:xfrm>
          <a:prstGeom prst="rect">
            <a:avLst/>
          </a:prstGeom>
          <a:solidFill>
            <a:srgbClr val="131B50"/>
          </a:solidFill>
          <a:ln w="1905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3227832" y="3044952"/>
            <a:ext cx="548640" cy="5486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3552" y="3081528"/>
            <a:ext cx="457200" cy="4572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2468880" y="36850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Google Forms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2788920" y="399592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2788920" y="39959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Data Collection</a:t>
            </a:r>
            <a:endParaRPr lang="en-US" sz="800" dirty="0"/>
          </a:p>
        </p:txBody>
      </p:sp>
      <p:sp>
        <p:nvSpPr>
          <p:cNvPr id="46" name="Text 37"/>
          <p:cNvSpPr/>
          <p:nvPr/>
        </p:nvSpPr>
        <p:spPr>
          <a:xfrm>
            <a:off x="2542032" y="42885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Platform used to design and collect survey responses from students.</a:t>
            </a:r>
            <a:endParaRPr lang="en-US" sz="800" dirty="0"/>
          </a:p>
        </p:txBody>
      </p:sp>
      <p:sp>
        <p:nvSpPr>
          <p:cNvPr id="47" name="Shape 38"/>
          <p:cNvSpPr/>
          <p:nvPr/>
        </p:nvSpPr>
        <p:spPr>
          <a:xfrm>
            <a:off x="4681728" y="2880360"/>
            <a:ext cx="2057400" cy="1920240"/>
          </a:xfrm>
          <a:prstGeom prst="rect">
            <a:avLst/>
          </a:prstGeom>
          <a:solidFill>
            <a:srgbClr val="131B50"/>
          </a:solidFill>
          <a:ln w="19050">
            <a:solidFill>
              <a:srgbClr val="0D9488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5440680" y="304495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081528"/>
            <a:ext cx="457200" cy="45720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4681728" y="36850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</a:rPr>
              <a:t>Microsoft Excel</a:t>
            </a:r>
            <a:endParaRPr lang="en-US" sz="1200" dirty="0"/>
          </a:p>
        </p:txBody>
      </p:sp>
      <p:sp>
        <p:nvSpPr>
          <p:cNvPr id="51" name="Shape 41"/>
          <p:cNvSpPr/>
          <p:nvPr/>
        </p:nvSpPr>
        <p:spPr>
          <a:xfrm>
            <a:off x="5001768" y="399592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5001768" y="39959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Data Preview</a:t>
            </a:r>
            <a:endParaRPr lang="en-US" sz="800" dirty="0"/>
          </a:p>
        </p:txBody>
      </p:sp>
      <p:sp>
        <p:nvSpPr>
          <p:cNvPr id="53" name="Text 43"/>
          <p:cNvSpPr/>
          <p:nvPr/>
        </p:nvSpPr>
        <p:spPr>
          <a:xfrm>
            <a:off x="4754880" y="42885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Initial data viewing and format inspection of the .xlsx file.</a:t>
            </a:r>
            <a:endParaRPr lang="en-US" sz="800" dirty="0"/>
          </a:p>
        </p:txBody>
      </p:sp>
      <p:sp>
        <p:nvSpPr>
          <p:cNvPr id="54" name="Shape 44"/>
          <p:cNvSpPr/>
          <p:nvPr/>
        </p:nvSpPr>
        <p:spPr>
          <a:xfrm>
            <a:off x="6894576" y="2880360"/>
            <a:ext cx="2057400" cy="1920240"/>
          </a:xfrm>
          <a:prstGeom prst="rect">
            <a:avLst/>
          </a:prstGeom>
          <a:solidFill>
            <a:srgbClr val="131B50"/>
          </a:solidFill>
          <a:ln w="19050">
            <a:solidFill>
              <a:srgbClr val="4A2C8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7653528" y="3044952"/>
            <a:ext cx="548640" cy="548640"/>
          </a:xfrm>
          <a:prstGeom prst="ellipse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9248" y="3081528"/>
            <a:ext cx="457200" cy="457200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6894576" y="36850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2C8E"/>
                </a:solidFill>
              </a:rPr>
              <a:t>RStudio</a:t>
            </a:r>
            <a:endParaRPr lang="en-US" sz="1200" dirty="0"/>
          </a:p>
        </p:txBody>
      </p:sp>
      <p:sp>
        <p:nvSpPr>
          <p:cNvPr id="58" name="Shape 47"/>
          <p:cNvSpPr/>
          <p:nvPr/>
        </p:nvSpPr>
        <p:spPr>
          <a:xfrm>
            <a:off x="7214616" y="399592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A2C8E">
              <a:alpha val="25000"/>
            </a:srgbClr>
          </a:solidFill>
          <a:ln w="12700">
            <a:solidFill>
              <a:srgbClr val="4A2C8E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7214616" y="39959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IDE / Environment</a:t>
            </a:r>
            <a:endParaRPr lang="en-US" sz="800" dirty="0"/>
          </a:p>
        </p:txBody>
      </p:sp>
      <p:sp>
        <p:nvSpPr>
          <p:cNvPr id="60" name="Text 49"/>
          <p:cNvSpPr/>
          <p:nvPr/>
        </p:nvSpPr>
        <p:spPr>
          <a:xfrm>
            <a:off x="6967728" y="42885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CA3AF"/>
                </a:solidFill>
              </a:rPr>
              <a:t>Integrated development environment (IDE) for running R scripts and notebooks.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INSIGHTS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777240"/>
          <a:ext cx="4114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777240"/>
          <a:ext cx="42976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"/>
          <p:cNvSpPr/>
          <p:nvPr/>
        </p:nvSpPr>
        <p:spPr>
          <a:xfrm>
            <a:off x="274320" y="3703320"/>
            <a:ext cx="2057400" cy="1261872"/>
          </a:xfrm>
          <a:prstGeom prst="rect">
            <a:avLst/>
          </a:prstGeom>
          <a:solidFill>
            <a:srgbClr val="1A1F5E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274320" y="3703320"/>
            <a:ext cx="347472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7432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365760" y="4059936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&amp; parental expectations are the #1 and #2 sources of stress — outranking even exams.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2468880" y="3703320"/>
            <a:ext cx="2057400" cy="1261872"/>
          </a:xfrm>
          <a:prstGeom prst="rect">
            <a:avLst/>
          </a:prstGeom>
          <a:solidFill>
            <a:srgbClr val="1A1F5E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2468880" y="3703320"/>
            <a:ext cx="347472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246888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560320" y="4059936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 of students say stress negatively affects their performance (slightly or very negatively).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663440" y="3703320"/>
            <a:ext cx="2057400" cy="1261872"/>
          </a:xfrm>
          <a:prstGeom prst="rect">
            <a:avLst/>
          </a:prstGeom>
          <a:solidFill>
            <a:srgbClr val="1A1F5E"/>
          </a:solidFill>
          <a:ln w="19050">
            <a:solidFill>
              <a:srgbClr val="4A2C8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663440" y="3703320"/>
            <a:ext cx="347472" cy="347472"/>
          </a:xfrm>
          <a:prstGeom prst="rect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66344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754880" y="4059936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failing is the strongest predictor of high stress (β = +0.61, p &lt; 0.001).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858000" y="3703320"/>
            <a:ext cx="2057400" cy="1261872"/>
          </a:xfrm>
          <a:prstGeom prst="rect">
            <a:avLst/>
          </a:prstGeom>
          <a:solidFill>
            <a:srgbClr val="1A1F5E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58000" y="3703320"/>
            <a:ext cx="34747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85800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949440" y="4059936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study habits significantly reduce stress (β = −0.38). Daily studiers report lower anxiety.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972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822960"/>
            <a:ext cx="8595360" cy="896112"/>
          </a:xfrm>
          <a:prstGeom prst="rect">
            <a:avLst/>
          </a:prstGeom>
          <a:solidFill>
            <a:srgbClr val="141A52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05840"/>
            <a:ext cx="530352" cy="53035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51560"/>
            <a:ext cx="438912" cy="4389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896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Stress is Widespread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024128" y="1216152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of students frequently experience academic stress; exam anxiety and assignment overload are the primary contributors.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4320" y="1828800"/>
            <a:ext cx="8595360" cy="896112"/>
          </a:xfrm>
          <a:prstGeom prst="rect">
            <a:avLst/>
          </a:prstGeom>
          <a:solidFill>
            <a:srgbClr val="141A5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5760" y="2011680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057400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4128" y="1901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Study Habits Matter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024128" y="2221992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study schedules, consistent revision, and focused concentration spans are strongly associated with lower stress levels.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274320" y="2834640"/>
            <a:ext cx="8595360" cy="896112"/>
          </a:xfrm>
          <a:prstGeom prst="rect">
            <a:avLst/>
          </a:prstGeom>
          <a:solidFill>
            <a:srgbClr val="141A5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65760" y="301752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06324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4128" y="2907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Data Confirms Impact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024128" y="3227832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(R²=0.64) confirms that fear of failing, low confidence and poor study regularity significantly predict stress scores.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274320" y="3840480"/>
            <a:ext cx="8595360" cy="896112"/>
          </a:xfrm>
          <a:prstGeom prst="rect">
            <a:avLst/>
          </a:prstGeom>
          <a:solidFill>
            <a:srgbClr val="141A5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65760" y="4023360"/>
            <a:ext cx="530352" cy="5303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069080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24128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Need for Support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1024128" y="4233672"/>
            <a:ext cx="7726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students feel 'Neutral' in motivation—indicating a large group at risk of disengagement that would benefit from academic counseling.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365760" y="47914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</a:rPr>
              <a:t>Data-driven analysis of academic stress enables institutions to design targeted, evidence-based student wellness and support programs.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1440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91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82296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822960"/>
            <a:ext cx="28346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877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1792" y="877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Machine Learning Models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752" y="87782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1298448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classification models (Random Forest, SVM) to predict at-risk students based on their stress profiles and study habits.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27832" y="82296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4A2C8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27832" y="822960"/>
            <a:ext cx="2834640" cy="384048"/>
          </a:xfrm>
          <a:prstGeom prst="rect">
            <a:avLst/>
          </a:prstGeom>
          <a:solidFill>
            <a:srgbClr val="4A2C8E"/>
          </a:solidFill>
          <a:ln w="12700">
            <a:solidFill>
              <a:srgbClr val="4A2C8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19272" y="877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93592" y="877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Larger &amp; Diverse Dataset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2" y="87782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37560" y="1298448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survey to 500+ students across multiple colleges and disciplines for more generalizable findings.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199632" y="82296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99632" y="822960"/>
            <a:ext cx="28346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291072" y="877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565392" y="877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Longitudinal Study</a:t>
            </a:r>
            <a:endParaRPr lang="en-US" sz="13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1352" y="87782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9360" y="1298448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same students across semesters to observe how stress patterns evolve with academic progression.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256032" y="283464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F5E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256032" y="2834640"/>
            <a:ext cx="2834640" cy="384048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47472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21792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Interactive Dashboard</a:t>
            </a:r>
            <a:endParaRPr lang="en-US" sz="13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7752" y="288950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5760" y="3310128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Shiny (R) or Power BI dashboard for real-time monitoring of student stress metrics by counselors.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227832" y="283464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227832" y="2834640"/>
            <a:ext cx="28346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319272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5.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3593592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Intervention Analysis</a:t>
            </a:r>
            <a:endParaRPr lang="en-US" sz="13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59552" y="2889504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337560" y="3310128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effectiveness of wellness programs, counseling, and academic support on stress reduction.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199632" y="2834640"/>
            <a:ext cx="28346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199632" y="2834640"/>
            <a:ext cx="28346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6291072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6.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6565392" y="2889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NLP on Open Responses</a:t>
            </a:r>
            <a:endParaRPr lang="en-US" sz="13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1352" y="2889504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309360" y="3310128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text mining and sentiment analysis on open-ended survey responses to identify qualitative stress themes.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4A2C8E">
              <a:alpha val="12000"/>
            </a:srgbClr>
          </a:solidFill>
          <a:ln w="12700">
            <a:solidFill>
              <a:srgbClr val="4A2C8E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-457200"/>
            <a:ext cx="1828800" cy="18288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96012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82880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1828800" y="2651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9E0B"/>
                </a:solidFill>
              </a:rPr>
              <a:t>for your attention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286000" y="3200400"/>
            <a:ext cx="4572000" cy="640080"/>
          </a:xfrm>
          <a:prstGeom prst="rect">
            <a:avLst/>
          </a:prstGeom>
          <a:solidFill>
            <a:srgbClr val="0F144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0" y="3264408"/>
            <a:ext cx="4572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❓  Any Questions?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40050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B5563"/>
                </a:solidFill>
              </a:rPr>
              <a:t>Academic Stress &amp; Study Habits Among College Students | EDA using R |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1501</Words>
  <Application>Microsoft Office PowerPoint</Application>
  <PresentationFormat>On-screen Show (16:9)</PresentationFormat>
  <Paragraphs>269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Jaskaran Cheema</cp:lastModifiedBy>
  <cp:revision>2</cp:revision>
  <dcterms:created xsi:type="dcterms:W3CDTF">2026-04-20T18:55:38Z</dcterms:created>
  <dcterms:modified xsi:type="dcterms:W3CDTF">2026-04-20T19:02:45Z</dcterms:modified>
</cp:coreProperties>
</file>